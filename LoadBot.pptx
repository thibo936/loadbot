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lus Jakarta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11" Type="http://schemas.openxmlformats.org/officeDocument/2006/relationships/slide" Target="slides/slide6.xml"/><Relationship Id="rId22" Type="http://schemas.openxmlformats.org/officeDocument/2006/relationships/font" Target="fonts/PlusJakartaSans-boldItalic.fntdata"/><Relationship Id="rId10" Type="http://schemas.openxmlformats.org/officeDocument/2006/relationships/slide" Target="slides/slide5.xml"/><Relationship Id="rId21" Type="http://schemas.openxmlformats.org/officeDocument/2006/relationships/font" Target="fonts/PlusJakarta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551325a5480fd633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h551325a5480fd633_3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551325a5480fd633_3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h551325a5480fd633_3_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551325a5480fd633_3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h551325a5480fd633_3_10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551325a5480fd633_3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h551325a5480fd633_3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551325a5480fd633_3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h551325a5480fd633_3_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551325a5480fd633_3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h551325a5480fd633_3_1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551325a5480fd633_3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h551325a5480fd633_3_2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h551325a5480fd633_3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h551325a5480fd633_3_2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h551325a5480fd633_3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h551325a5480fd633_3_2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h551325a5480fd633_3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h551325a5480fd633_3_2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h551325a5480fd633_3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h551325a5480fd633_3_2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h551325a5480fd633_3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h551325a5480fd633_3_30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h551325a5480fd633_3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h551325a5480fd633_3_3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10" Type="http://schemas.openxmlformats.org/officeDocument/2006/relationships/image" Target="../media/image23.png"/><Relationship Id="rId9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19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image" Target="../media/image29.png"/><Relationship Id="rId7" Type="http://schemas.openxmlformats.org/officeDocument/2006/relationships/image" Target="../media/image16.png"/><Relationship Id="rId8" Type="http://schemas.openxmlformats.org/officeDocument/2006/relationships/image" Target="../media/image3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2.png"/><Relationship Id="rId4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Relationship Id="rId7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71500" y="4350432"/>
            <a:ext cx="8001000" cy="335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571500" y="4350432"/>
            <a:ext cx="8001000" cy="7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571500" y="4586176"/>
            <a:ext cx="71438" cy="71438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2057400" y="4586176"/>
            <a:ext cx="71438" cy="71438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3507581" y="4586176"/>
            <a:ext cx="71438" cy="71438"/>
          </a:xfrm>
          <a:prstGeom prst="roundRect">
            <a:avLst>
              <a:gd fmla="val 50000" name="adj"/>
            </a:avLst>
          </a:prstGeom>
          <a:solidFill>
            <a:srgbClr val="94A3B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572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301" y="507206"/>
            <a:ext cx="242888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571500" y="1453083"/>
            <a:ext cx="785812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9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ROBOTIQUE DE LIVRAISON AUTONOME ÉCO-RESPONSABLE</a:t>
            </a:r>
            <a:endParaRPr sz="1100"/>
          </a:p>
        </p:txBody>
      </p:sp>
      <p:sp>
        <p:nvSpPr>
          <p:cNvPr id="92" name="Google Shape;92;p13"/>
          <p:cNvSpPr txBox="1"/>
          <p:nvPr/>
        </p:nvSpPr>
        <p:spPr>
          <a:xfrm>
            <a:off x="571500" y="1717402"/>
            <a:ext cx="6675834" cy="1379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3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Réinventer le dernier kilomètre pour sublimer l'expérience client.</a:t>
            </a:r>
            <a:endParaRPr sz="1100"/>
          </a:p>
        </p:txBody>
      </p:sp>
      <p:sp>
        <p:nvSpPr>
          <p:cNvPr id="93" name="Google Shape;93;p13"/>
          <p:cNvSpPr txBox="1"/>
          <p:nvPr/>
        </p:nvSpPr>
        <p:spPr>
          <a:xfrm>
            <a:off x="571500" y="3268823"/>
            <a:ext cx="521493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1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Flotte multimodale en location clé en main pour transporteurs et opérateurs logistiques exigeants.</a:t>
            </a:r>
            <a:endParaRPr sz="1100"/>
          </a:p>
        </p:txBody>
      </p:sp>
      <p:sp>
        <p:nvSpPr>
          <p:cNvPr id="94" name="Google Shape;94;p13"/>
          <p:cNvSpPr txBox="1"/>
          <p:nvPr/>
        </p:nvSpPr>
        <p:spPr>
          <a:xfrm>
            <a:off x="1028700" y="510778"/>
            <a:ext cx="657225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Load</a:t>
            </a:r>
            <a:endParaRPr sz="1100"/>
          </a:p>
        </p:txBody>
      </p:sp>
      <p:sp>
        <p:nvSpPr>
          <p:cNvPr id="95" name="Google Shape;95;p13"/>
          <p:cNvSpPr txBox="1"/>
          <p:nvPr/>
        </p:nvSpPr>
        <p:spPr>
          <a:xfrm>
            <a:off x="1500187" y="510778"/>
            <a:ext cx="532209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5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Bot</a:t>
            </a:r>
            <a:endParaRPr sz="1100"/>
          </a:p>
        </p:txBody>
      </p:sp>
      <p:sp>
        <p:nvSpPr>
          <p:cNvPr id="96" name="Google Shape;96;p13"/>
          <p:cNvSpPr txBox="1"/>
          <p:nvPr/>
        </p:nvSpPr>
        <p:spPr>
          <a:xfrm>
            <a:off x="714375" y="4557601"/>
            <a:ext cx="1357313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8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Flotte 100% Électrique</a:t>
            </a:r>
            <a:endParaRPr sz="1100"/>
          </a:p>
        </p:txBody>
      </p:sp>
      <p:sp>
        <p:nvSpPr>
          <p:cNvPr id="97" name="Google Shape;97;p13"/>
          <p:cNvSpPr txBox="1"/>
          <p:nvPr/>
        </p:nvSpPr>
        <p:spPr>
          <a:xfrm>
            <a:off x="2200275" y="4557601"/>
            <a:ext cx="1312663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8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 24h/24 et 7j/7</a:t>
            </a:r>
            <a:endParaRPr sz="1100"/>
          </a:p>
        </p:txBody>
      </p:sp>
      <p:sp>
        <p:nvSpPr>
          <p:cNvPr id="98" name="Google Shape;98;p13"/>
          <p:cNvSpPr txBox="1"/>
          <p:nvPr/>
        </p:nvSpPr>
        <p:spPr>
          <a:xfrm>
            <a:off x="3650456" y="4557601"/>
            <a:ext cx="141089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8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Modèle RaaS (Location)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1143000" y="2030275"/>
            <a:ext cx="6858000" cy="1860053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1143000" y="2030275"/>
            <a:ext cx="42863" cy="186005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400050"/>
            <a:ext cx="8572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7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Problématique Centrale</a:t>
            </a:r>
            <a:endParaRPr sz="1100"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600075"/>
            <a:ext cx="8572500" cy="291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L'enjeu critique des leaders de la livraison</a:t>
            </a:r>
            <a:endParaRPr sz="1100"/>
          </a:p>
        </p:txBody>
      </p:sp>
      <p:sp>
        <p:nvSpPr>
          <p:cNvPr id="107" name="Google Shape;107;p14"/>
          <p:cNvSpPr txBox="1"/>
          <p:nvPr/>
        </p:nvSpPr>
        <p:spPr>
          <a:xfrm>
            <a:off x="1585913" y="2373176"/>
            <a:ext cx="6086475" cy="617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« Comment permettre aux sociétés de livraison d'avoir des clients plus satisfaits et fidèles ? »</a:t>
            </a:r>
            <a:endParaRPr sz="1100"/>
          </a:p>
        </p:txBody>
      </p:sp>
      <p:sp>
        <p:nvSpPr>
          <p:cNvPr id="108" name="Google Shape;108;p14"/>
          <p:cNvSpPr txBox="1"/>
          <p:nvPr/>
        </p:nvSpPr>
        <p:spPr>
          <a:xfrm>
            <a:off x="1585913" y="3161667"/>
            <a:ext cx="608647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 dernier kilomètre concentre plus de 53% des coûts totaux et 80% des insatisfactions consommateurs.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/>
          <p:nvPr/>
        </p:nvSpPr>
        <p:spPr>
          <a:xfrm>
            <a:off x="571500" y="2109192"/>
            <a:ext cx="1893094" cy="1653778"/>
          </a:xfrm>
          <a:prstGeom prst="roundRect">
            <a:avLst>
              <a:gd fmla="val 60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2607469" y="2109192"/>
            <a:ext cx="1893094" cy="1653778"/>
          </a:xfrm>
          <a:prstGeom prst="roundRect">
            <a:avLst>
              <a:gd fmla="val 60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4643438" y="2109192"/>
            <a:ext cx="1893094" cy="1653778"/>
          </a:xfrm>
          <a:prstGeom prst="roundRect">
            <a:avLst>
              <a:gd fmla="val 60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6679406" y="2109192"/>
            <a:ext cx="1893094" cy="1653778"/>
          </a:xfrm>
          <a:prstGeom prst="roundRect">
            <a:avLst>
              <a:gd fmla="val 60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094" y="2344936"/>
            <a:ext cx="3143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6063" y="2344936"/>
            <a:ext cx="3143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2031" y="2344936"/>
            <a:ext cx="3143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0" y="2344936"/>
            <a:ext cx="3143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5103" y="2437805"/>
            <a:ext cx="164306" cy="128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78931" y="2437805"/>
            <a:ext cx="128588" cy="128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07756" y="2437805"/>
            <a:ext cx="142875" cy="128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50869" y="2437805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571500" y="400050"/>
            <a:ext cx="8572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700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Constat Marché</a:t>
            </a:r>
            <a:endParaRPr sz="1100"/>
          </a:p>
        </p:txBody>
      </p:sp>
      <p:sp>
        <p:nvSpPr>
          <p:cNvPr id="126" name="Google Shape;126;p15"/>
          <p:cNvSpPr txBox="1"/>
          <p:nvPr/>
        </p:nvSpPr>
        <p:spPr>
          <a:xfrm>
            <a:off x="571500" y="585788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Les faiblesses structurelles du modèle traditionnel</a:t>
            </a:r>
            <a:endParaRPr sz="1100"/>
          </a:p>
        </p:txBody>
      </p:sp>
      <p:sp>
        <p:nvSpPr>
          <p:cNvPr id="127" name="Google Shape;127;p15"/>
          <p:cNvSpPr txBox="1"/>
          <p:nvPr/>
        </p:nvSpPr>
        <p:spPr>
          <a:xfrm>
            <a:off x="750094" y="2802136"/>
            <a:ext cx="201587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Colis Détériorés</a:t>
            </a:r>
            <a:endParaRPr sz="1100"/>
          </a:p>
        </p:txBody>
      </p:sp>
      <p:sp>
        <p:nvSpPr>
          <p:cNvPr id="128" name="Google Shape;128;p15"/>
          <p:cNvSpPr txBox="1"/>
          <p:nvPr/>
        </p:nvSpPr>
        <p:spPr>
          <a:xfrm>
            <a:off x="750094" y="3045023"/>
            <a:ext cx="1607344" cy="310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Repas écrasés et emballages abîmés lors du transport.</a:t>
            </a:r>
            <a:endParaRPr sz="1100"/>
          </a:p>
        </p:txBody>
      </p:sp>
      <p:sp>
        <p:nvSpPr>
          <p:cNvPr id="129" name="Google Shape;129;p15"/>
          <p:cNvSpPr txBox="1"/>
          <p:nvPr/>
        </p:nvSpPr>
        <p:spPr>
          <a:xfrm>
            <a:off x="2786063" y="2802136"/>
            <a:ext cx="168771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Cadences Sous Pression</a:t>
            </a:r>
            <a:endParaRPr sz="1100"/>
          </a:p>
        </p:txBody>
      </p:sp>
      <p:sp>
        <p:nvSpPr>
          <p:cNvPr id="130" name="Google Shape;130;p15"/>
          <p:cNvSpPr txBox="1"/>
          <p:nvPr/>
        </p:nvSpPr>
        <p:spPr>
          <a:xfrm>
            <a:off x="2786063" y="3216473"/>
            <a:ext cx="1607344" cy="310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Courses effrénées entraînant des livraisons manquées.</a:t>
            </a:r>
            <a:endParaRPr sz="1100"/>
          </a:p>
        </p:txBody>
      </p:sp>
      <p:sp>
        <p:nvSpPr>
          <p:cNvPr id="131" name="Google Shape;131;p15"/>
          <p:cNvSpPr txBox="1"/>
          <p:nvPr/>
        </p:nvSpPr>
        <p:spPr>
          <a:xfrm>
            <a:off x="4822031" y="2802136"/>
            <a:ext cx="201587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Chaleur Non Maîtrisée</a:t>
            </a:r>
            <a:endParaRPr sz="1100"/>
          </a:p>
        </p:txBody>
      </p:sp>
      <p:sp>
        <p:nvSpPr>
          <p:cNvPr id="132" name="Google Shape;132;p15"/>
          <p:cNvSpPr txBox="1"/>
          <p:nvPr/>
        </p:nvSpPr>
        <p:spPr>
          <a:xfrm>
            <a:off x="4822031" y="3045023"/>
            <a:ext cx="1607344" cy="310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Rupture récurrente de la température des plats.</a:t>
            </a:r>
            <a:endParaRPr sz="1100"/>
          </a:p>
        </p:txBody>
      </p:sp>
      <p:sp>
        <p:nvSpPr>
          <p:cNvPr id="133" name="Google Shape;133;p15"/>
          <p:cNvSpPr txBox="1"/>
          <p:nvPr/>
        </p:nvSpPr>
        <p:spPr>
          <a:xfrm>
            <a:off x="6858000" y="2802136"/>
            <a:ext cx="201587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Aléas Opérationnels</a:t>
            </a:r>
            <a:endParaRPr sz="1100"/>
          </a:p>
        </p:txBody>
      </p:sp>
      <p:sp>
        <p:nvSpPr>
          <p:cNvPr id="134" name="Google Shape;134;p15"/>
          <p:cNvSpPr txBox="1"/>
          <p:nvPr/>
        </p:nvSpPr>
        <p:spPr>
          <a:xfrm>
            <a:off x="6858000" y="3045023"/>
            <a:ext cx="1607344" cy="310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Sensibilité forte aux arrêts maladie et grèves.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/>
          <p:nvPr/>
        </p:nvSpPr>
        <p:spPr>
          <a:xfrm>
            <a:off x="571500" y="381000"/>
            <a:ext cx="80010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Notre Solution</a:t>
            </a:r>
            <a:endParaRPr b="1" sz="800">
              <a:solidFill>
                <a:srgbClr val="2563E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571500" y="571500"/>
            <a:ext cx="8001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robotique autonome au format locatif (RaaS)</a:t>
            </a:r>
            <a:endParaRPr b="1" sz="20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10448" r="10456" t="0"/>
          <a:stretch/>
        </p:blipFill>
        <p:spPr>
          <a:xfrm>
            <a:off x="571500" y="1190625"/>
            <a:ext cx="3905400" cy="3286200"/>
          </a:xfrm>
          <a:prstGeom prst="roundRect">
            <a:avLst>
              <a:gd fmla="val 4637" name="adj"/>
            </a:avLst>
          </a:prstGeom>
          <a:noFill/>
          <a:ln>
            <a:noFill/>
          </a:ln>
        </p:spPr>
      </p:pic>
      <p:grpSp>
        <p:nvGrpSpPr>
          <p:cNvPr id="142" name="Google Shape;142;p16"/>
          <p:cNvGrpSpPr/>
          <p:nvPr/>
        </p:nvGrpSpPr>
        <p:grpSpPr>
          <a:xfrm>
            <a:off x="4714875" y="1190625"/>
            <a:ext cx="3857700" cy="981000"/>
            <a:chOff x="0" y="0"/>
            <a:chExt cx="3857700" cy="981000"/>
          </a:xfrm>
        </p:grpSpPr>
        <p:sp>
          <p:nvSpPr>
            <p:cNvPr id="143" name="Google Shape;143;p16"/>
            <p:cNvSpPr/>
            <p:nvPr/>
          </p:nvSpPr>
          <p:spPr>
            <a:xfrm>
              <a:off x="0" y="0"/>
              <a:ext cx="3857700" cy="981000"/>
            </a:xfrm>
            <a:prstGeom prst="roundRect">
              <a:avLst>
                <a:gd fmla="val 11650" name="adj"/>
              </a:avLst>
            </a:prstGeom>
            <a:solidFill>
              <a:srgbClr val="F0FDF4"/>
            </a:solidFill>
            <a:ln cap="flat" cmpd="sng" w="9525">
              <a:solidFill>
                <a:srgbClr val="DCFC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0" y="0"/>
              <a:ext cx="47700" cy="981000"/>
            </a:xfrm>
            <a:prstGeom prst="roundRect">
              <a:avLst>
                <a:gd fmla="val 4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5" name="Google Shape;145;p16"/>
            <p:cNvGrpSpPr/>
            <p:nvPr/>
          </p:nvGrpSpPr>
          <p:grpSpPr>
            <a:xfrm>
              <a:off x="190500" y="152400"/>
              <a:ext cx="304800" cy="304800"/>
              <a:chOff x="0" y="0"/>
              <a:chExt cx="304800" cy="304800"/>
            </a:xfrm>
          </p:grpSpPr>
          <p:sp>
            <p:nvSpPr>
              <p:cNvPr id="146" name="Google Shape;146;p16"/>
              <p:cNvSpPr/>
              <p:nvPr/>
            </p:nvSpPr>
            <p:spPr>
              <a:xfrm>
                <a:off x="0" y="0"/>
                <a:ext cx="304800" cy="304800"/>
              </a:xfrm>
              <a:prstGeom prst="roundRect">
                <a:avLst>
                  <a:gd fmla="val 500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6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" sz="1100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01</a:t>
                </a:r>
                <a:endParaRPr b="1" sz="11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sp>
          <p:nvSpPr>
            <p:cNvPr id="148" name="Google Shape;148;p16"/>
            <p:cNvSpPr txBox="1"/>
            <p:nvPr/>
          </p:nvSpPr>
          <p:spPr>
            <a:xfrm>
              <a:off x="609600" y="152400"/>
              <a:ext cx="30957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150">
                  <a:solidFill>
                    <a:srgbClr val="065F4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Location Clé en Main</a:t>
              </a:r>
              <a:endParaRPr b="1" sz="1150">
                <a:solidFill>
                  <a:srgbClr val="065F46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fr" sz="900">
                  <a:solidFill>
                    <a:srgbClr val="166534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Zéro CAPEX, maintenance intégrée et déploiement immédiat.</a:t>
              </a:r>
              <a:endParaRPr b="0" sz="900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49" name="Google Shape;149;p16"/>
          <p:cNvGrpSpPr/>
          <p:nvPr/>
        </p:nvGrpSpPr>
        <p:grpSpPr>
          <a:xfrm>
            <a:off x="4714875" y="2343150"/>
            <a:ext cx="3857700" cy="981000"/>
            <a:chOff x="0" y="0"/>
            <a:chExt cx="3857700" cy="981000"/>
          </a:xfrm>
        </p:grpSpPr>
        <p:sp>
          <p:nvSpPr>
            <p:cNvPr id="150" name="Google Shape;150;p16"/>
            <p:cNvSpPr/>
            <p:nvPr/>
          </p:nvSpPr>
          <p:spPr>
            <a:xfrm>
              <a:off x="0" y="0"/>
              <a:ext cx="3857700" cy="981000"/>
            </a:xfrm>
            <a:prstGeom prst="roundRect">
              <a:avLst>
                <a:gd fmla="val 11650" name="adj"/>
              </a:avLst>
            </a:prstGeom>
            <a:solidFill>
              <a:srgbClr val="EFF6FF"/>
            </a:solidFill>
            <a:ln cap="flat" cmpd="sng" w="9525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0" y="0"/>
              <a:ext cx="47700" cy="981000"/>
            </a:xfrm>
            <a:prstGeom prst="roundRect">
              <a:avLst>
                <a:gd fmla="val 4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2" name="Google Shape;152;p16"/>
            <p:cNvGrpSpPr/>
            <p:nvPr/>
          </p:nvGrpSpPr>
          <p:grpSpPr>
            <a:xfrm>
              <a:off x="190500" y="152400"/>
              <a:ext cx="304800" cy="304800"/>
              <a:chOff x="0" y="0"/>
              <a:chExt cx="304800" cy="304800"/>
            </a:xfrm>
          </p:grpSpPr>
          <p:sp>
            <p:nvSpPr>
              <p:cNvPr id="153" name="Google Shape;153;p16"/>
              <p:cNvSpPr/>
              <p:nvPr/>
            </p:nvSpPr>
            <p:spPr>
              <a:xfrm>
                <a:off x="0" y="0"/>
                <a:ext cx="304800" cy="3048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6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" sz="1100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02</a:t>
                </a:r>
                <a:endParaRPr b="1" sz="11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sp>
          <p:nvSpPr>
            <p:cNvPr id="155" name="Google Shape;155;p16"/>
            <p:cNvSpPr txBox="1"/>
            <p:nvPr/>
          </p:nvSpPr>
          <p:spPr>
            <a:xfrm>
              <a:off x="609600" y="152400"/>
              <a:ext cx="30957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150">
                  <a:solidFill>
                    <a:srgbClr val="1E40A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Qualité et Régularité Absolue</a:t>
              </a:r>
              <a:endParaRPr b="1" sz="1150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fr" sz="900">
                  <a:solidFill>
                    <a:srgbClr val="1D4ED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Préservation totale des paquets et respect des délais.</a:t>
              </a:r>
              <a:endParaRPr b="0" sz="900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56" name="Google Shape;156;p16"/>
          <p:cNvGrpSpPr/>
          <p:nvPr/>
        </p:nvGrpSpPr>
        <p:grpSpPr>
          <a:xfrm>
            <a:off x="4714875" y="3495675"/>
            <a:ext cx="3857700" cy="981000"/>
            <a:chOff x="0" y="0"/>
            <a:chExt cx="3857700" cy="981000"/>
          </a:xfrm>
        </p:grpSpPr>
        <p:sp>
          <p:nvSpPr>
            <p:cNvPr id="157" name="Google Shape;157;p16"/>
            <p:cNvSpPr/>
            <p:nvPr/>
          </p:nvSpPr>
          <p:spPr>
            <a:xfrm>
              <a:off x="0" y="0"/>
              <a:ext cx="3857700" cy="981000"/>
            </a:xfrm>
            <a:prstGeom prst="roundRect">
              <a:avLst>
                <a:gd fmla="val 1165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0" y="0"/>
              <a:ext cx="47700" cy="981000"/>
            </a:xfrm>
            <a:prstGeom prst="roundRect">
              <a:avLst>
                <a:gd fmla="val 40000" name="adj"/>
              </a:avLst>
            </a:prstGeom>
            <a:solidFill>
              <a:srgbClr val="4755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9" name="Google Shape;159;p16"/>
            <p:cNvGrpSpPr/>
            <p:nvPr/>
          </p:nvGrpSpPr>
          <p:grpSpPr>
            <a:xfrm>
              <a:off x="190500" y="152400"/>
              <a:ext cx="304800" cy="304800"/>
              <a:chOff x="0" y="0"/>
              <a:chExt cx="304800" cy="304800"/>
            </a:xfrm>
          </p:grpSpPr>
          <p:sp>
            <p:nvSpPr>
              <p:cNvPr id="160" name="Google Shape;160;p16"/>
              <p:cNvSpPr/>
              <p:nvPr/>
            </p:nvSpPr>
            <p:spPr>
              <a:xfrm>
                <a:off x="0" y="0"/>
                <a:ext cx="304800" cy="304800"/>
              </a:xfrm>
              <a:prstGeom prst="roundRect">
                <a:avLst>
                  <a:gd fmla="val 50000" name="adj"/>
                </a:avLst>
              </a:prstGeom>
              <a:solidFill>
                <a:srgbClr val="4755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6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" sz="1100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03</a:t>
                </a:r>
                <a:endParaRPr b="1" sz="11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sp>
          <p:nvSpPr>
            <p:cNvPr id="162" name="Google Shape;162;p16"/>
            <p:cNvSpPr txBox="1"/>
            <p:nvPr/>
          </p:nvSpPr>
          <p:spPr>
            <a:xfrm>
              <a:off x="609600" y="152400"/>
              <a:ext cx="30957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1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Résilience Opérationnelle</a:t>
              </a:r>
              <a:endParaRPr b="1" sz="11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fr" sz="90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Continuité de service garantie 365 jours par an.</a:t>
              </a:r>
              <a:endParaRPr b="0" sz="9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/>
          <p:nvPr/>
        </p:nvSpPr>
        <p:spPr>
          <a:xfrm>
            <a:off x="571500" y="1619250"/>
            <a:ext cx="2476500" cy="2286000"/>
          </a:xfrm>
          <a:prstGeom prst="roundRect">
            <a:avLst>
              <a:gd fmla="val 5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3333750" y="1619250"/>
            <a:ext cx="2476500" cy="2286000"/>
          </a:xfrm>
          <a:prstGeom prst="roundRect">
            <a:avLst>
              <a:gd fmla="val 5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6096000" y="1619250"/>
            <a:ext cx="2476500" cy="2286000"/>
          </a:xfrm>
          <a:prstGeom prst="roundRect">
            <a:avLst>
              <a:gd fmla="val 5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17"/>
          <p:cNvPicPr preferRelativeResize="0"/>
          <p:nvPr/>
        </p:nvPicPr>
        <p:blipFill rotWithShape="1">
          <a:blip r:embed="rId3">
            <a:alphaModFix/>
          </a:blip>
          <a:srcRect b="1220" l="0" r="0" t="1220"/>
          <a:stretch/>
        </p:blipFill>
        <p:spPr>
          <a:xfrm>
            <a:off x="800100" y="18573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/>
          <p:cNvPicPr preferRelativeResize="0"/>
          <p:nvPr/>
        </p:nvPicPr>
        <p:blipFill rotWithShape="1">
          <a:blip r:embed="rId4">
            <a:alphaModFix/>
          </a:blip>
          <a:srcRect b="1220" l="0" r="0" t="1220"/>
          <a:stretch/>
        </p:blipFill>
        <p:spPr>
          <a:xfrm>
            <a:off x="3562350" y="18573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4600" y="18573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/>
          <p:cNvPicPr preferRelativeResize="0"/>
          <p:nvPr/>
        </p:nvPicPr>
        <p:blipFill rotWithShape="1">
          <a:blip r:embed="rId6">
            <a:alphaModFix/>
          </a:blip>
          <a:srcRect b="2634" l="0" r="0" t="2634"/>
          <a:stretch/>
        </p:blipFill>
        <p:spPr>
          <a:xfrm>
            <a:off x="885825" y="1943100"/>
            <a:ext cx="171600" cy="1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/>
          <p:cNvPicPr preferRelativeResize="0"/>
          <p:nvPr/>
        </p:nvPicPr>
        <p:blipFill rotWithShape="1">
          <a:blip r:embed="rId7">
            <a:alphaModFix/>
          </a:blip>
          <a:srcRect b="0" l="1616" r="1626" t="0"/>
          <a:stretch/>
        </p:blipFill>
        <p:spPr>
          <a:xfrm>
            <a:off x="3629025" y="1943100"/>
            <a:ext cx="209700" cy="1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/>
          <p:cNvPicPr preferRelativeResize="0"/>
          <p:nvPr/>
        </p:nvPicPr>
        <p:blipFill rotWithShape="1">
          <a:blip r:embed="rId8">
            <a:alphaModFix/>
          </a:blip>
          <a:srcRect b="485" l="0" r="0" t="475"/>
          <a:stretch/>
        </p:blipFill>
        <p:spPr>
          <a:xfrm>
            <a:off x="6391275" y="1943100"/>
            <a:ext cx="209700" cy="1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571500" y="400050"/>
            <a:ext cx="8572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7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Catalogue Matériel</a:t>
            </a:r>
            <a:endParaRPr sz="1100"/>
          </a:p>
        </p:txBody>
      </p:sp>
      <p:sp>
        <p:nvSpPr>
          <p:cNvPr id="177" name="Google Shape;177;p17"/>
          <p:cNvSpPr txBox="1"/>
          <p:nvPr/>
        </p:nvSpPr>
        <p:spPr>
          <a:xfrm>
            <a:off x="571500" y="585788"/>
            <a:ext cx="857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Une flotte adaptée à chaque mission logistique</a:t>
            </a:r>
            <a:endParaRPr sz="1100"/>
          </a:p>
        </p:txBody>
      </p:sp>
      <p:sp>
        <p:nvSpPr>
          <p:cNvPr id="178" name="Google Shape;178;p17"/>
          <p:cNvSpPr txBox="1"/>
          <p:nvPr/>
        </p:nvSpPr>
        <p:spPr>
          <a:xfrm>
            <a:off x="800100" y="2381250"/>
            <a:ext cx="20193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LoadBot Petit</a:t>
            </a:r>
            <a:endParaRPr b="1" i="0" sz="13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800100" y="2667000"/>
            <a:ext cx="20193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80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ISOTHERME ACTIF</a:t>
            </a:r>
            <a:endParaRPr b="1" i="0" sz="800">
              <a:solidFill>
                <a:srgbClr val="2563E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800100" y="2914650"/>
            <a:ext cx="20193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Maintien précis au chaud ou au froid pour plats cuisinés.</a:t>
            </a:r>
            <a:endParaRPr b="0" i="0" sz="95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3562350" y="2381250"/>
            <a:ext cx="20193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LoadBot Gros</a:t>
            </a:r>
            <a:endParaRPr b="1" i="0" sz="13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3562350" y="2667000"/>
            <a:ext cx="20193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8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HAUTE CAPACITÉ</a:t>
            </a:r>
            <a:endParaRPr b="1" i="0" sz="80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3562350" y="2914650"/>
            <a:ext cx="20193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Volume XXL avec éjection assistée par parachute.</a:t>
            </a:r>
            <a:endParaRPr b="0" i="0" sz="95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6324600" y="2381250"/>
            <a:ext cx="20193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3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LoadBot Volant</a:t>
            </a:r>
            <a:endParaRPr b="1" i="0" sz="13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6324600" y="2667000"/>
            <a:ext cx="20193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800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DRONE AÉRIEN</a:t>
            </a:r>
            <a:endParaRPr b="1" i="0" sz="800">
              <a:solidFill>
                <a:srgbClr val="10B98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6324600" y="2914650"/>
            <a:ext cx="20193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Accès ultra-rapide aux zones isolées et congestionnées.</a:t>
            </a:r>
            <a:endParaRPr b="0" i="0" sz="95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 txBox="1"/>
          <p:nvPr/>
        </p:nvSpPr>
        <p:spPr>
          <a:xfrm>
            <a:off x="571500" y="381000"/>
            <a:ext cx="80010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5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Spécifications Précision</a:t>
            </a:r>
            <a:endParaRPr b="1" sz="850">
              <a:solidFill>
                <a:srgbClr val="2563E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571500" y="552450"/>
            <a:ext cx="8001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Préservation thermique et dépôt autonome</a:t>
            </a:r>
            <a:endParaRPr b="1" sz="20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571500" y="1095375"/>
            <a:ext cx="3905400" cy="3429000"/>
          </a:xfrm>
          <a:prstGeom prst="roundRect">
            <a:avLst>
              <a:gd fmla="val 444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809625" y="1285875"/>
            <a:ext cx="1857300" cy="247800"/>
          </a:xfrm>
          <a:prstGeom prst="roundRect">
            <a:avLst>
              <a:gd fmla="val 23076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885825" y="1285875"/>
            <a:ext cx="1714500" cy="11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50">
                <a:solidFill>
                  <a:srgbClr val="065F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LIVRAISON FOOD &amp; PETITS COLIS</a:t>
            </a:r>
            <a:endParaRPr b="1" sz="750">
              <a:solidFill>
                <a:srgbClr val="065F4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96" name="Google Shape;196;p18"/>
          <p:cNvPicPr preferRelativeResize="0"/>
          <p:nvPr/>
        </p:nvPicPr>
        <p:blipFill rotWithShape="1">
          <a:blip r:embed="rId3">
            <a:alphaModFix/>
          </a:blip>
          <a:srcRect b="0" l="2390" r="2371" t="0"/>
          <a:stretch/>
        </p:blipFill>
        <p:spPr>
          <a:xfrm>
            <a:off x="4048125" y="1304925"/>
            <a:ext cx="209700" cy="2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809625" y="1638300"/>
            <a:ext cx="34290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LoadBot Petit</a:t>
            </a:r>
            <a:endParaRPr b="1" sz="18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809625" y="1981200"/>
            <a:ext cx="3429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fr" sz="10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Chambre thermique active régulée au degré près pour préserver l'intégrité gustative des repas.</a:t>
            </a:r>
            <a:endParaRPr b="0" sz="100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809625" y="2476500"/>
            <a:ext cx="3429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809625" y="2619375"/>
            <a:ext cx="1638300" cy="1714500"/>
          </a:xfrm>
          <a:prstGeom prst="roundRect">
            <a:avLst>
              <a:gd fmla="val 69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952500" y="2762250"/>
            <a:ext cx="1352700" cy="11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PLAGE THERMIQUE</a:t>
            </a:r>
            <a:endParaRPr b="1" sz="75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952500" y="2952750"/>
            <a:ext cx="13527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-4°C à +65°C</a:t>
            </a:r>
            <a:endParaRPr b="1" sz="1500">
              <a:solidFill>
                <a:srgbClr val="2563E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203" name="Google Shape;203;p18"/>
          <p:cNvGrpSpPr/>
          <p:nvPr/>
        </p:nvGrpSpPr>
        <p:grpSpPr>
          <a:xfrm>
            <a:off x="952500" y="3762375"/>
            <a:ext cx="2305200" cy="4191000"/>
            <a:chOff x="0" y="0"/>
            <a:chExt cx="2305200" cy="4191000"/>
          </a:xfrm>
        </p:grpSpPr>
        <p:sp>
          <p:nvSpPr>
            <p:cNvPr id="204" name="Google Shape;204;p18"/>
            <p:cNvSpPr/>
            <p:nvPr/>
          </p:nvSpPr>
          <p:spPr>
            <a:xfrm>
              <a:off x="0" y="0"/>
              <a:ext cx="1333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8"/>
            <p:cNvSpPr txBox="1"/>
            <p:nvPr/>
          </p:nvSpPr>
          <p:spPr>
            <a:xfrm>
              <a:off x="952500" y="3429000"/>
              <a:ext cx="13527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fr" sz="85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Isolation haute précision &amp; température contrôlée</a:t>
              </a:r>
              <a:endParaRPr b="0" sz="85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206" name="Google Shape;206;p18"/>
          <p:cNvSpPr/>
          <p:nvPr/>
        </p:nvSpPr>
        <p:spPr>
          <a:xfrm>
            <a:off x="2600325" y="2619375"/>
            <a:ext cx="1638300" cy="1714500"/>
          </a:xfrm>
          <a:prstGeom prst="roundRect">
            <a:avLst>
              <a:gd fmla="val 69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2743200" y="2762250"/>
            <a:ext cx="1352700" cy="11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7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RAYON D'ACTION</a:t>
            </a:r>
            <a:endParaRPr b="1" sz="75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2743200" y="2952750"/>
            <a:ext cx="13527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15 km / charge</a:t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209" name="Google Shape;209;p18"/>
          <p:cNvGrpSpPr/>
          <p:nvPr/>
        </p:nvGrpSpPr>
        <p:grpSpPr>
          <a:xfrm>
            <a:off x="2762250" y="3762375"/>
            <a:ext cx="4095900" cy="4191000"/>
            <a:chOff x="0" y="0"/>
            <a:chExt cx="4095900" cy="4191000"/>
          </a:xfrm>
        </p:grpSpPr>
        <p:sp>
          <p:nvSpPr>
            <p:cNvPr id="210" name="Google Shape;210;p18"/>
            <p:cNvSpPr/>
            <p:nvPr/>
          </p:nvSpPr>
          <p:spPr>
            <a:xfrm>
              <a:off x="0" y="0"/>
              <a:ext cx="1333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8"/>
            <p:cNvSpPr txBox="1"/>
            <p:nvPr/>
          </p:nvSpPr>
          <p:spPr>
            <a:xfrm>
              <a:off x="2743200" y="3429000"/>
              <a:ext cx="13527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fr" sz="85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Autonomie optimale pour tournées urbaines</a:t>
              </a:r>
              <a:endParaRPr b="0" sz="85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pic>
        <p:nvPicPr>
          <p:cNvPr id="212" name="Google Shape;212;p18"/>
          <p:cNvPicPr preferRelativeResize="0"/>
          <p:nvPr/>
        </p:nvPicPr>
        <p:blipFill rotWithShape="1">
          <a:blip r:embed="rId4">
            <a:alphaModFix/>
          </a:blip>
          <a:srcRect b="0" l="12126" r="12134" t="0"/>
          <a:stretch/>
        </p:blipFill>
        <p:spPr>
          <a:xfrm>
            <a:off x="4667250" y="1095375"/>
            <a:ext cx="3905400" cy="3429000"/>
          </a:xfrm>
          <a:prstGeom prst="roundRect">
            <a:avLst>
              <a:gd fmla="val 444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"/>
          <p:cNvSpPr/>
          <p:nvPr/>
        </p:nvSpPr>
        <p:spPr>
          <a:xfrm>
            <a:off x="571500" y="1443038"/>
            <a:ext cx="3857625" cy="2928938"/>
          </a:xfrm>
          <a:prstGeom prst="roundRect">
            <a:avLst>
              <a:gd fmla="val 390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4714875" y="1443038"/>
            <a:ext cx="3857625" cy="2928938"/>
          </a:xfrm>
          <a:prstGeom prst="roundRect">
            <a:avLst>
              <a:gd fmla="val 390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19" title="AH0tHeouxTXQAAAAAElFTkSuQmCC.png"/>
          <p:cNvPicPr preferRelativeResize="0"/>
          <p:nvPr/>
        </p:nvPicPr>
        <p:blipFill rotWithShape="1">
          <a:blip r:embed="rId3">
            <a:alphaModFix/>
          </a:blip>
          <a:srcRect b="15321" l="0" r="0" t="15321"/>
          <a:stretch/>
        </p:blipFill>
        <p:spPr>
          <a:xfrm>
            <a:off x="578644" y="1450181"/>
            <a:ext cx="3843339" cy="1500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 title="ciMizlIY7i6mTo0ZB7JkRnGlyynBl5utDlSgS6vbxeijNlGHJ7pCM7eUrDR1z4bxmvN1zdf1uq5JwiNoHVSSMlU2FdglsMzM8CGzf8XJzT8HUxwUZEAAAAASUVORK5CYII.png"/>
          <p:cNvPicPr preferRelativeResize="0"/>
          <p:nvPr/>
        </p:nvPicPr>
        <p:blipFill rotWithShape="1">
          <a:blip r:embed="rId4">
            <a:alphaModFix/>
          </a:blip>
          <a:srcRect b="14208" l="0" r="0" t="14215"/>
          <a:stretch/>
        </p:blipFill>
        <p:spPr>
          <a:xfrm>
            <a:off x="4722019" y="1450181"/>
            <a:ext cx="3843338" cy="1500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644" y="1450181"/>
            <a:ext cx="1500188" cy="15001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9"/>
          <p:cNvSpPr txBox="1"/>
          <p:nvPr/>
        </p:nvSpPr>
        <p:spPr>
          <a:xfrm>
            <a:off x="571500" y="400050"/>
            <a:ext cx="8572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Capacité &amp; Aérien</a:t>
            </a:r>
            <a:endParaRPr sz="1100"/>
          </a:p>
        </p:txBody>
      </p:sp>
      <p:sp>
        <p:nvSpPr>
          <p:cNvPr id="223" name="Google Shape;223;p19"/>
          <p:cNvSpPr txBox="1"/>
          <p:nvPr/>
        </p:nvSpPr>
        <p:spPr>
          <a:xfrm>
            <a:off x="571500" y="585788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Volumes massifs et zones inaccessibles</a:t>
            </a:r>
            <a:endParaRPr sz="1100"/>
          </a:p>
        </p:txBody>
      </p:sp>
      <p:sp>
        <p:nvSpPr>
          <p:cNvPr id="224" name="Google Shape;224;p19"/>
          <p:cNvSpPr txBox="1"/>
          <p:nvPr/>
        </p:nvSpPr>
        <p:spPr>
          <a:xfrm>
            <a:off x="750094" y="3401875"/>
            <a:ext cx="4594324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LoadBot Gros (Fret Lourd)</a:t>
            </a:r>
            <a:endParaRPr sz="1100"/>
          </a:p>
        </p:txBody>
      </p:sp>
      <p:sp>
        <p:nvSpPr>
          <p:cNvPr id="225" name="Google Shape;225;p19"/>
          <p:cNvSpPr txBox="1"/>
          <p:nvPr/>
        </p:nvSpPr>
        <p:spPr>
          <a:xfrm>
            <a:off x="750094" y="3623332"/>
            <a:ext cx="3571875" cy="289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Transport multi-colis avec module de déploiement rapide assisté par parachute pour zones sécurisées.</a:t>
            </a:r>
            <a:endParaRPr sz="1100"/>
          </a:p>
        </p:txBody>
      </p:sp>
      <p:sp>
        <p:nvSpPr>
          <p:cNvPr id="226" name="Google Shape;226;p19"/>
          <p:cNvSpPr txBox="1"/>
          <p:nvPr/>
        </p:nvSpPr>
        <p:spPr>
          <a:xfrm>
            <a:off x="4893469" y="3401875"/>
            <a:ext cx="4250531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LoadBot Volant (Drone Express)</a:t>
            </a:r>
            <a:endParaRPr sz="1100"/>
          </a:p>
        </p:txBody>
      </p:sp>
      <p:sp>
        <p:nvSpPr>
          <p:cNvPr id="227" name="Google Shape;227;p19"/>
          <p:cNvSpPr txBox="1"/>
          <p:nvPr/>
        </p:nvSpPr>
        <p:spPr>
          <a:xfrm>
            <a:off x="4893469" y="3623332"/>
            <a:ext cx="3571875" cy="289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Franchissement instantané du trafic pour livrer les résidences enclavées ou les urgences vitales.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/>
          <p:nvPr/>
        </p:nvSpPr>
        <p:spPr>
          <a:xfrm>
            <a:off x="571500" y="2231752"/>
            <a:ext cx="1871662" cy="1437233"/>
          </a:xfrm>
          <a:prstGeom prst="roundRect">
            <a:avLst>
              <a:gd fmla="val 795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2614613" y="2231752"/>
            <a:ext cx="1871663" cy="1437233"/>
          </a:xfrm>
          <a:prstGeom prst="roundRect">
            <a:avLst>
              <a:gd fmla="val 795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4657725" y="2231752"/>
            <a:ext cx="1871663" cy="1437233"/>
          </a:xfrm>
          <a:prstGeom prst="roundRect">
            <a:avLst>
              <a:gd fmla="val 795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6700838" y="2231752"/>
            <a:ext cx="1871663" cy="1437233"/>
          </a:xfrm>
          <a:prstGeom prst="roundRect">
            <a:avLst>
              <a:gd fmla="val 795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571500" y="400050"/>
            <a:ext cx="8572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Performance Durable</a:t>
            </a:r>
            <a:endParaRPr sz="1100"/>
          </a:p>
        </p:txBody>
      </p:sp>
      <p:sp>
        <p:nvSpPr>
          <p:cNvPr id="237" name="Google Shape;237;p20"/>
          <p:cNvSpPr txBox="1"/>
          <p:nvPr/>
        </p:nvSpPr>
        <p:spPr>
          <a:xfrm>
            <a:off x="571500" y="585788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L'efficience énergétique et l'acceptabilité citoyenne</a:t>
            </a:r>
            <a:endParaRPr sz="1100"/>
          </a:p>
        </p:txBody>
      </p:sp>
      <p:sp>
        <p:nvSpPr>
          <p:cNvPr id="238" name="Google Shape;238;p20"/>
          <p:cNvSpPr txBox="1"/>
          <p:nvPr/>
        </p:nvSpPr>
        <p:spPr>
          <a:xfrm>
            <a:off x="516136" y="2460352"/>
            <a:ext cx="19823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3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100%</a:t>
            </a:r>
            <a:endParaRPr sz="1100"/>
          </a:p>
        </p:txBody>
      </p:sp>
      <p:sp>
        <p:nvSpPr>
          <p:cNvPr id="239" name="Google Shape;239;p20"/>
          <p:cNvSpPr txBox="1"/>
          <p:nvPr/>
        </p:nvSpPr>
        <p:spPr>
          <a:xfrm>
            <a:off x="516136" y="2946127"/>
            <a:ext cx="198239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Électrique</a:t>
            </a:r>
            <a:endParaRPr sz="1100"/>
          </a:p>
        </p:txBody>
      </p:sp>
      <p:sp>
        <p:nvSpPr>
          <p:cNvPr id="240" name="Google Shape;240;p20"/>
          <p:cNvSpPr txBox="1"/>
          <p:nvPr/>
        </p:nvSpPr>
        <p:spPr>
          <a:xfrm>
            <a:off x="516136" y="3160439"/>
            <a:ext cx="1982390" cy="279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Zéro émission directe de CO2 en ville.</a:t>
            </a:r>
            <a:endParaRPr sz="1100"/>
          </a:p>
        </p:txBody>
      </p:sp>
      <p:sp>
        <p:nvSpPr>
          <p:cNvPr id="241" name="Google Shape;241;p20"/>
          <p:cNvSpPr txBox="1"/>
          <p:nvPr/>
        </p:nvSpPr>
        <p:spPr>
          <a:xfrm>
            <a:off x="2559248" y="2460352"/>
            <a:ext cx="19823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32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 dB</a:t>
            </a:r>
            <a:endParaRPr sz="1100"/>
          </a:p>
        </p:txBody>
      </p:sp>
      <p:sp>
        <p:nvSpPr>
          <p:cNvPr id="242" name="Google Shape;242;p20"/>
          <p:cNvSpPr txBox="1"/>
          <p:nvPr/>
        </p:nvSpPr>
        <p:spPr>
          <a:xfrm>
            <a:off x="2559248" y="2946127"/>
            <a:ext cx="198239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Silence Total</a:t>
            </a:r>
            <a:endParaRPr sz="1100"/>
          </a:p>
        </p:txBody>
      </p:sp>
      <p:sp>
        <p:nvSpPr>
          <p:cNvPr id="243" name="Google Shape;243;p20"/>
          <p:cNvSpPr txBox="1"/>
          <p:nvPr/>
        </p:nvSpPr>
        <p:spPr>
          <a:xfrm>
            <a:off x="2559248" y="3160439"/>
            <a:ext cx="1982390" cy="279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Livraisons nocturnes sans bruit résidentiel.</a:t>
            </a:r>
            <a:endParaRPr sz="1100"/>
          </a:p>
        </p:txBody>
      </p:sp>
      <p:sp>
        <p:nvSpPr>
          <p:cNvPr id="244" name="Google Shape;244;p20"/>
          <p:cNvSpPr txBox="1"/>
          <p:nvPr/>
        </p:nvSpPr>
        <p:spPr>
          <a:xfrm>
            <a:off x="4602361" y="2460352"/>
            <a:ext cx="19823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3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24/7</a:t>
            </a:r>
            <a:endParaRPr sz="1100"/>
          </a:p>
        </p:txBody>
      </p:sp>
      <p:sp>
        <p:nvSpPr>
          <p:cNvPr id="245" name="Google Shape;245;p20"/>
          <p:cNvSpPr txBox="1"/>
          <p:nvPr/>
        </p:nvSpPr>
        <p:spPr>
          <a:xfrm>
            <a:off x="4602361" y="2946127"/>
            <a:ext cx="198239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Disponibilité</a:t>
            </a:r>
            <a:endParaRPr sz="1100"/>
          </a:p>
        </p:txBody>
      </p:sp>
      <p:sp>
        <p:nvSpPr>
          <p:cNvPr id="246" name="Google Shape;246;p20"/>
          <p:cNvSpPr txBox="1"/>
          <p:nvPr/>
        </p:nvSpPr>
        <p:spPr>
          <a:xfrm>
            <a:off x="4602361" y="3160439"/>
            <a:ext cx="1982390" cy="279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Opérationnel de jour comme de nuit sans coupure.</a:t>
            </a:r>
            <a:endParaRPr sz="1100"/>
          </a:p>
        </p:txBody>
      </p:sp>
      <p:sp>
        <p:nvSpPr>
          <p:cNvPr id="247" name="Google Shape;247;p20"/>
          <p:cNvSpPr txBox="1"/>
          <p:nvPr/>
        </p:nvSpPr>
        <p:spPr>
          <a:xfrm>
            <a:off x="6645473" y="2460352"/>
            <a:ext cx="19823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3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-40%</a:t>
            </a:r>
            <a:endParaRPr sz="1100"/>
          </a:p>
        </p:txBody>
      </p:sp>
      <p:sp>
        <p:nvSpPr>
          <p:cNvPr id="248" name="Google Shape;248;p20"/>
          <p:cNvSpPr txBox="1"/>
          <p:nvPr/>
        </p:nvSpPr>
        <p:spPr>
          <a:xfrm>
            <a:off x="6645473" y="2946127"/>
            <a:ext cx="198239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Coûts Dernier Km</a:t>
            </a:r>
            <a:endParaRPr sz="1100"/>
          </a:p>
        </p:txBody>
      </p:sp>
      <p:sp>
        <p:nvSpPr>
          <p:cNvPr id="249" name="Google Shape;249;p20"/>
          <p:cNvSpPr txBox="1"/>
          <p:nvPr/>
        </p:nvSpPr>
        <p:spPr>
          <a:xfrm>
            <a:off x="6645473" y="3160439"/>
            <a:ext cx="1982390" cy="279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Optimisation énergétique et fluidité des flux.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"/>
          <p:cNvSpPr/>
          <p:nvPr/>
        </p:nvSpPr>
        <p:spPr>
          <a:xfrm>
            <a:off x="571500" y="2103834"/>
            <a:ext cx="2533687" cy="166449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3305212" y="2103834"/>
            <a:ext cx="2533687" cy="1664494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6038924" y="2103834"/>
            <a:ext cx="2533687" cy="166449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571500" y="2103834"/>
            <a:ext cx="2533687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3305212" y="2103834"/>
            <a:ext cx="2533687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6038924" y="2103834"/>
            <a:ext cx="2533687" cy="28575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571500" y="400050"/>
            <a:ext cx="8572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7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Segmentation Marché</a:t>
            </a:r>
            <a:endParaRPr sz="1100"/>
          </a:p>
        </p:txBody>
      </p:sp>
      <p:sp>
        <p:nvSpPr>
          <p:cNvPr id="261" name="Google Shape;261;p21"/>
          <p:cNvSpPr txBox="1"/>
          <p:nvPr/>
        </p:nvSpPr>
        <p:spPr>
          <a:xfrm>
            <a:off x="571500" y="585788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À qui s'adresse l'offre de location LoadBot ?</a:t>
            </a:r>
            <a:endParaRPr sz="1100"/>
          </a:p>
        </p:txBody>
      </p:sp>
      <p:sp>
        <p:nvSpPr>
          <p:cNvPr id="262" name="Google Shape;262;p21"/>
          <p:cNvSpPr txBox="1"/>
          <p:nvPr/>
        </p:nvSpPr>
        <p:spPr>
          <a:xfrm>
            <a:off x="771525" y="2389584"/>
            <a:ext cx="2667046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7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CIBLE PRINCIPALE</a:t>
            </a:r>
            <a:endParaRPr sz="1100"/>
          </a:p>
        </p:txBody>
      </p:sp>
      <p:sp>
        <p:nvSpPr>
          <p:cNvPr id="263" name="Google Shape;263;p21"/>
          <p:cNvSpPr txBox="1"/>
          <p:nvPr/>
        </p:nvSpPr>
        <p:spPr>
          <a:xfrm>
            <a:off x="771525" y="2568178"/>
            <a:ext cx="2800399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Opérateurs Logistiques</a:t>
            </a:r>
            <a:endParaRPr sz="1100"/>
          </a:p>
        </p:txBody>
      </p:sp>
      <p:sp>
        <p:nvSpPr>
          <p:cNvPr id="264" name="Google Shape;264;p21"/>
          <p:cNvSpPr txBox="1"/>
          <p:nvPr/>
        </p:nvSpPr>
        <p:spPr>
          <a:xfrm>
            <a:off x="771525" y="2846784"/>
            <a:ext cx="2205074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Poste, Amazon, Uber Eats, Deliveroo, transporteurs express &amp; nationaux.</a:t>
            </a:r>
            <a:endParaRPr sz="1100"/>
          </a:p>
        </p:txBody>
      </p:sp>
      <p:sp>
        <p:nvSpPr>
          <p:cNvPr id="265" name="Google Shape;265;p21"/>
          <p:cNvSpPr txBox="1"/>
          <p:nvPr/>
        </p:nvSpPr>
        <p:spPr>
          <a:xfrm>
            <a:off x="771525" y="3282553"/>
            <a:ext cx="266704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Besoin : Fiabilité de pointe et baisse des litiges.</a:t>
            </a:r>
            <a:endParaRPr sz="1100"/>
          </a:p>
        </p:txBody>
      </p:sp>
      <p:sp>
        <p:nvSpPr>
          <p:cNvPr id="266" name="Google Shape;266;p21"/>
          <p:cNvSpPr txBox="1"/>
          <p:nvPr/>
        </p:nvSpPr>
        <p:spPr>
          <a:xfrm>
            <a:off x="3505237" y="2389584"/>
            <a:ext cx="2667047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CŒUR DE CIBLE GÉO</a:t>
            </a:r>
            <a:endParaRPr sz="1100"/>
          </a:p>
        </p:txBody>
      </p:sp>
      <p:sp>
        <p:nvSpPr>
          <p:cNvPr id="267" name="Google Shape;267;p21"/>
          <p:cNvSpPr txBox="1"/>
          <p:nvPr/>
        </p:nvSpPr>
        <p:spPr>
          <a:xfrm>
            <a:off x="3505237" y="2568178"/>
            <a:ext cx="2800399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65F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Métropoles Urbaines</a:t>
            </a:r>
            <a:endParaRPr sz="1100"/>
          </a:p>
        </p:txBody>
      </p:sp>
      <p:sp>
        <p:nvSpPr>
          <p:cNvPr id="268" name="Google Shape;268;p21"/>
          <p:cNvSpPr txBox="1"/>
          <p:nvPr/>
        </p:nvSpPr>
        <p:spPr>
          <a:xfrm>
            <a:off x="3505237" y="2846784"/>
            <a:ext cx="2205074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Centres-villes piétons, zones à faibles émissions (ZFE) et rues étroites.</a:t>
            </a:r>
            <a:endParaRPr sz="1100"/>
          </a:p>
        </p:txBody>
      </p:sp>
      <p:sp>
        <p:nvSpPr>
          <p:cNvPr id="269" name="Google Shape;269;p21"/>
          <p:cNvSpPr txBox="1"/>
          <p:nvPr/>
        </p:nvSpPr>
        <p:spPr>
          <a:xfrm>
            <a:off x="3505237" y="3282553"/>
            <a:ext cx="2667047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700" u="none" cap="none" strike="noStrike">
                <a:solidFill>
                  <a:srgbClr val="065F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Besoin : Agilité et circulation sans restriction.</a:t>
            </a:r>
            <a:endParaRPr sz="1100"/>
          </a:p>
        </p:txBody>
      </p:sp>
      <p:sp>
        <p:nvSpPr>
          <p:cNvPr id="270" name="Google Shape;270;p21"/>
          <p:cNvSpPr txBox="1"/>
          <p:nvPr/>
        </p:nvSpPr>
        <p:spPr>
          <a:xfrm>
            <a:off x="6238949" y="2389584"/>
            <a:ext cx="2667046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7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CIBLE SECONDAIRE</a:t>
            </a:r>
            <a:endParaRPr sz="1100"/>
          </a:p>
        </p:txBody>
      </p:sp>
      <p:sp>
        <p:nvSpPr>
          <p:cNvPr id="271" name="Google Shape;271;p21"/>
          <p:cNvSpPr txBox="1"/>
          <p:nvPr/>
        </p:nvSpPr>
        <p:spPr>
          <a:xfrm>
            <a:off x="6238949" y="2568178"/>
            <a:ext cx="2800399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Grands Campus &amp; Sièges</a:t>
            </a:r>
            <a:endParaRPr sz="1100"/>
          </a:p>
        </p:txBody>
      </p:sp>
      <p:sp>
        <p:nvSpPr>
          <p:cNvPr id="272" name="Google Shape;272;p21"/>
          <p:cNvSpPr txBox="1"/>
          <p:nvPr/>
        </p:nvSpPr>
        <p:spPr>
          <a:xfrm>
            <a:off x="6238949" y="2846784"/>
            <a:ext cx="2205074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Multinationales, parcs tertiaires, sites industriels et complexes hospitaliers.</a:t>
            </a:r>
            <a:endParaRPr sz="1100"/>
          </a:p>
        </p:txBody>
      </p:sp>
      <p:sp>
        <p:nvSpPr>
          <p:cNvPr id="273" name="Google Shape;273;p21"/>
          <p:cNvSpPr txBox="1"/>
          <p:nvPr/>
        </p:nvSpPr>
        <p:spPr>
          <a:xfrm>
            <a:off x="6238949" y="3282553"/>
            <a:ext cx="220507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Besoin : Navettes internes automatisées entre services.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"/>
          <p:cNvSpPr/>
          <p:nvPr/>
        </p:nvSpPr>
        <p:spPr>
          <a:xfrm>
            <a:off x="571500" y="2010965"/>
            <a:ext cx="8001000" cy="521494"/>
          </a:xfrm>
          <a:prstGeom prst="roundRect">
            <a:avLst>
              <a:gd fmla="val 1643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571500" y="2661047"/>
            <a:ext cx="8001000" cy="521494"/>
          </a:xfrm>
          <a:prstGeom prst="roundRect">
            <a:avLst>
              <a:gd fmla="val 1643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571500" y="3311128"/>
            <a:ext cx="8001000" cy="521494"/>
          </a:xfrm>
          <a:prstGeom prst="roundRect">
            <a:avLst>
              <a:gd fmla="val 1643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571500" y="400050"/>
            <a:ext cx="8572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Proposition de Valeur</a:t>
            </a:r>
            <a:endParaRPr sz="1100"/>
          </a:p>
        </p:txBody>
      </p:sp>
      <p:sp>
        <p:nvSpPr>
          <p:cNvPr id="282" name="Google Shape;282;p22"/>
          <p:cNvSpPr txBox="1"/>
          <p:nvPr/>
        </p:nvSpPr>
        <p:spPr>
          <a:xfrm>
            <a:off x="571500" y="585788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Pourquoi louer la flotte LoadBot ?</a:t>
            </a:r>
            <a:endParaRPr sz="1100"/>
          </a:p>
        </p:txBody>
      </p:sp>
      <p:sp>
        <p:nvSpPr>
          <p:cNvPr id="283" name="Google Shape;283;p22"/>
          <p:cNvSpPr txBox="1"/>
          <p:nvPr/>
        </p:nvSpPr>
        <p:spPr>
          <a:xfrm>
            <a:off x="807244" y="2189559"/>
            <a:ext cx="1607344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Flexibilité Totale</a:t>
            </a:r>
            <a:endParaRPr sz="1100"/>
          </a:p>
        </p:txBody>
      </p:sp>
      <p:sp>
        <p:nvSpPr>
          <p:cNvPr id="284" name="Google Shape;284;p22"/>
          <p:cNvSpPr txBox="1"/>
          <p:nvPr/>
        </p:nvSpPr>
        <p:spPr>
          <a:xfrm>
            <a:off x="2093119" y="2191680"/>
            <a:ext cx="6090047" cy="159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Ajustement de la flotte en temps réel lors des pics saisonniers (Black Friday, fêtes).</a:t>
            </a:r>
            <a:endParaRPr sz="1100"/>
          </a:p>
        </p:txBody>
      </p:sp>
      <p:sp>
        <p:nvSpPr>
          <p:cNvPr id="285" name="Google Shape;285;p22"/>
          <p:cNvSpPr txBox="1"/>
          <p:nvPr/>
        </p:nvSpPr>
        <p:spPr>
          <a:xfrm>
            <a:off x="6965156" y="2203847"/>
            <a:ext cx="171450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 Risque d'Immobilisation</a:t>
            </a:r>
            <a:endParaRPr sz="1100"/>
          </a:p>
        </p:txBody>
      </p:sp>
      <p:sp>
        <p:nvSpPr>
          <p:cNvPr id="286" name="Google Shape;286;p22"/>
          <p:cNvSpPr txBox="1"/>
          <p:nvPr/>
        </p:nvSpPr>
        <p:spPr>
          <a:xfrm>
            <a:off x="807244" y="2839640"/>
            <a:ext cx="1607344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Maîtrise Budgétaire</a:t>
            </a:r>
            <a:endParaRPr sz="1100"/>
          </a:p>
        </p:txBody>
      </p:sp>
      <p:sp>
        <p:nvSpPr>
          <p:cNvPr id="287" name="Google Shape;287;p22"/>
          <p:cNvSpPr txBox="1"/>
          <p:nvPr/>
        </p:nvSpPr>
        <p:spPr>
          <a:xfrm>
            <a:off x="2093119" y="2841761"/>
            <a:ext cx="6259711" cy="159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Transformation intégrale des coûts d'acquisition (CAPEX) en charges opérationnelles (OPEX).</a:t>
            </a:r>
            <a:endParaRPr sz="1100"/>
          </a:p>
        </p:txBody>
      </p:sp>
      <p:sp>
        <p:nvSpPr>
          <p:cNvPr id="288" name="Google Shape;288;p22"/>
          <p:cNvSpPr txBox="1"/>
          <p:nvPr/>
        </p:nvSpPr>
        <p:spPr>
          <a:xfrm>
            <a:off x="7100888" y="2853928"/>
            <a:ext cx="154483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Coût par Course Réduit</a:t>
            </a:r>
            <a:endParaRPr sz="1100"/>
          </a:p>
        </p:txBody>
      </p:sp>
      <p:sp>
        <p:nvSpPr>
          <p:cNvPr id="289" name="Google Shape;289;p22"/>
          <p:cNvSpPr txBox="1"/>
          <p:nvPr/>
        </p:nvSpPr>
        <p:spPr>
          <a:xfrm>
            <a:off x="807244" y="3489722"/>
            <a:ext cx="1607344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0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Maintenance 24/7</a:t>
            </a:r>
            <a:endParaRPr sz="1100"/>
          </a:p>
        </p:txBody>
      </p:sp>
      <p:sp>
        <p:nvSpPr>
          <p:cNvPr id="290" name="Google Shape;290;p22"/>
          <p:cNvSpPr txBox="1"/>
          <p:nvPr/>
        </p:nvSpPr>
        <p:spPr>
          <a:xfrm>
            <a:off x="2093119" y="3491843"/>
            <a:ext cx="6322219" cy="159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Télémétrie prédictive, interventions physiques rapides et mises à jour logicielles continues.</a:t>
            </a:r>
            <a:endParaRPr sz="1100"/>
          </a:p>
        </p:txBody>
      </p:sp>
      <p:sp>
        <p:nvSpPr>
          <p:cNvPr id="291" name="Google Shape;291;p22"/>
          <p:cNvSpPr txBox="1"/>
          <p:nvPr/>
        </p:nvSpPr>
        <p:spPr>
          <a:xfrm>
            <a:off x="7150894" y="3504009"/>
            <a:ext cx="148232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99.8% de Disponibilité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3"/>
          <p:cNvSpPr/>
          <p:nvPr/>
        </p:nvSpPr>
        <p:spPr>
          <a:xfrm>
            <a:off x="571500" y="1970782"/>
            <a:ext cx="2552663" cy="1930598"/>
          </a:xfrm>
          <a:prstGeom prst="roundRect">
            <a:avLst>
              <a:gd fmla="val 518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3295613" y="1970782"/>
            <a:ext cx="2552663" cy="1930598"/>
          </a:xfrm>
          <a:prstGeom prst="roundRect">
            <a:avLst>
              <a:gd fmla="val 518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6019725" y="1970782"/>
            <a:ext cx="2552663" cy="1930598"/>
          </a:xfrm>
          <a:prstGeom prst="roundRect">
            <a:avLst>
              <a:gd fmla="val 518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9" name="Google Shape;29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094" y="220652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4206" y="220652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8319" y="220652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9390" y="2306538"/>
            <a:ext cx="164306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74219" y="2306538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05475" y="2306538"/>
            <a:ext cx="128588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3"/>
          <p:cNvSpPr txBox="1"/>
          <p:nvPr/>
        </p:nvSpPr>
        <p:spPr>
          <a:xfrm>
            <a:off x="571500" y="400050"/>
            <a:ext cx="8572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7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Stratégie de Visibilité</a:t>
            </a:r>
            <a:endParaRPr sz="1100"/>
          </a:p>
        </p:txBody>
      </p:sp>
      <p:sp>
        <p:nvSpPr>
          <p:cNvPr id="306" name="Google Shape;306;p23"/>
          <p:cNvSpPr txBox="1"/>
          <p:nvPr/>
        </p:nvSpPr>
        <p:spPr>
          <a:xfrm>
            <a:off x="571500" y="585788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Nos leviers de conquête institutionnelle et B2B</a:t>
            </a:r>
            <a:endParaRPr sz="1100"/>
          </a:p>
        </p:txBody>
      </p:sp>
      <p:sp>
        <p:nvSpPr>
          <p:cNvPr id="307" name="Google Shape;307;p23"/>
          <p:cNvSpPr txBox="1"/>
          <p:nvPr/>
        </p:nvSpPr>
        <p:spPr>
          <a:xfrm>
            <a:off x="742950" y="2199382"/>
            <a:ext cx="2281200" cy="1473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7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Démos dynamiques en direct</a:t>
            </a:r>
            <a:endParaRPr sz="1100"/>
          </a:p>
        </p:txBody>
      </p:sp>
      <p:sp>
        <p:nvSpPr>
          <p:cNvPr id="308" name="Google Shape;308;p23"/>
          <p:cNvSpPr txBox="1"/>
          <p:nvPr/>
        </p:nvSpPr>
        <p:spPr>
          <a:xfrm>
            <a:off x="3467063" y="2199382"/>
            <a:ext cx="2281200" cy="1473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Simulateur de ROI en ligne</a:t>
            </a:r>
            <a:endParaRPr sz="1100"/>
          </a:p>
        </p:txBody>
      </p:sp>
      <p:sp>
        <p:nvSpPr>
          <p:cNvPr id="309" name="Google Shape;309;p23"/>
          <p:cNvSpPr txBox="1"/>
          <p:nvPr/>
        </p:nvSpPr>
        <p:spPr>
          <a:xfrm>
            <a:off x="6191175" y="2199382"/>
            <a:ext cx="2281200" cy="1473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7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Contenus vidéo &amp; retours d'expérience</a:t>
            </a:r>
            <a:endParaRPr sz="1100"/>
          </a:p>
        </p:txBody>
      </p:sp>
      <p:sp>
        <p:nvSpPr>
          <p:cNvPr id="310" name="Google Shape;310;p23"/>
          <p:cNvSpPr txBox="1"/>
          <p:nvPr/>
        </p:nvSpPr>
        <p:spPr>
          <a:xfrm>
            <a:off x="750094" y="2692300"/>
            <a:ext cx="288156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Salons Professionnels</a:t>
            </a:r>
            <a:endParaRPr sz="1100"/>
          </a:p>
        </p:txBody>
      </p:sp>
      <p:sp>
        <p:nvSpPr>
          <p:cNvPr id="311" name="Google Shape;311;p23"/>
          <p:cNvSpPr txBox="1"/>
          <p:nvPr/>
        </p:nvSpPr>
        <p:spPr>
          <a:xfrm>
            <a:off x="750094" y="2935188"/>
            <a:ext cx="2266913" cy="466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Présence active sur les événements référents (VivaTech, Supply Chain Event, SITL).</a:t>
            </a:r>
            <a:endParaRPr sz="1100"/>
          </a:p>
        </p:txBody>
      </p:sp>
      <p:sp>
        <p:nvSpPr>
          <p:cNvPr id="312" name="Google Shape;312;p23"/>
          <p:cNvSpPr txBox="1"/>
          <p:nvPr/>
        </p:nvSpPr>
        <p:spPr>
          <a:xfrm>
            <a:off x="3474206" y="2692300"/>
            <a:ext cx="288156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Plateforme Web Dédiée</a:t>
            </a:r>
            <a:endParaRPr sz="1100"/>
          </a:p>
        </p:txBody>
      </p:sp>
      <p:sp>
        <p:nvSpPr>
          <p:cNvPr id="313" name="Google Shape;313;p23"/>
          <p:cNvSpPr txBox="1"/>
          <p:nvPr/>
        </p:nvSpPr>
        <p:spPr>
          <a:xfrm>
            <a:off x="3474206" y="2935188"/>
            <a:ext cx="2266913" cy="466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Portail interactif de simulation de flotte, spécifications techniques et accès client direct.</a:t>
            </a:r>
            <a:endParaRPr sz="1100"/>
          </a:p>
        </p:txBody>
      </p:sp>
      <p:sp>
        <p:nvSpPr>
          <p:cNvPr id="314" name="Google Shape;314;p23"/>
          <p:cNvSpPr txBox="1"/>
          <p:nvPr/>
        </p:nvSpPr>
        <p:spPr>
          <a:xfrm>
            <a:off x="6198319" y="2692300"/>
            <a:ext cx="288156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Réseaux Sociaux B2B</a:t>
            </a:r>
            <a:endParaRPr sz="1100"/>
          </a:p>
        </p:txBody>
      </p:sp>
      <p:sp>
        <p:nvSpPr>
          <p:cNvPr id="315" name="Google Shape;315;p23"/>
          <p:cNvSpPr txBox="1"/>
          <p:nvPr/>
        </p:nvSpPr>
        <p:spPr>
          <a:xfrm>
            <a:off x="6198319" y="2935188"/>
            <a:ext cx="2266913" cy="466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Campagnes d'influence ciblées sur LinkedIn auprès des directeurs logistique et achats.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4"/>
          <p:cNvSpPr/>
          <p:nvPr/>
        </p:nvSpPr>
        <p:spPr>
          <a:xfrm>
            <a:off x="4343400" y="3664744"/>
            <a:ext cx="457200" cy="28575"/>
          </a:xfrm>
          <a:prstGeom prst="roundRect">
            <a:avLst>
              <a:gd fmla="val 50000" name="adj"/>
            </a:avLst>
          </a:prstGeom>
          <a:solidFill>
            <a:srgbClr val="1B8EB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1" name="Google Shape;32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1975" y="1450181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3419" y="1564481"/>
            <a:ext cx="15716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4"/>
          <p:cNvSpPr txBox="1"/>
          <p:nvPr/>
        </p:nvSpPr>
        <p:spPr>
          <a:xfrm>
            <a:off x="98226" y="2050256"/>
            <a:ext cx="8947547" cy="7858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2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« Louer nos robots pour avoir des clients plus heureux. »</a:t>
            </a:r>
            <a:endParaRPr sz="1100"/>
          </a:p>
        </p:txBody>
      </p:sp>
      <p:sp>
        <p:nvSpPr>
          <p:cNvPr id="324" name="Google Shape;324;p24"/>
          <p:cNvSpPr txBox="1"/>
          <p:nvPr/>
        </p:nvSpPr>
        <p:spPr>
          <a:xfrm>
            <a:off x="1178719" y="3007519"/>
            <a:ext cx="678656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1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Une promesse opérationnelle limpide : garantir la perfection du dernier mètre pour faire de chaque livraison un moment de satisfaction fidélisant.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5"/>
          <p:cNvSpPr/>
          <p:nvPr/>
        </p:nvSpPr>
        <p:spPr>
          <a:xfrm>
            <a:off x="2278856" y="3464719"/>
            <a:ext cx="4586288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2278856" y="3464719"/>
            <a:ext cx="4586288" cy="7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1" name="Google Shape;3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5117" y="1293019"/>
            <a:ext cx="414338" cy="414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9411" y="1357313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78856" y="3711178"/>
            <a:ext cx="128588" cy="128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93369" y="3711178"/>
            <a:ext cx="128588" cy="128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79281" y="3711178"/>
            <a:ext cx="114300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5"/>
          <p:cNvSpPr txBox="1"/>
          <p:nvPr/>
        </p:nvSpPr>
        <p:spPr>
          <a:xfrm>
            <a:off x="-214312" y="1878806"/>
            <a:ext cx="9572625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2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Déployez l'autonomie sur vos réseaux dès aujourd'hui.</a:t>
            </a:r>
            <a:endParaRPr sz="1100"/>
          </a:p>
        </p:txBody>
      </p:sp>
      <p:sp>
        <p:nvSpPr>
          <p:cNvPr id="337" name="Google Shape;337;p25"/>
          <p:cNvSpPr txBox="1"/>
          <p:nvPr/>
        </p:nvSpPr>
        <p:spPr>
          <a:xfrm>
            <a:off x="1535906" y="2793206"/>
            <a:ext cx="6072188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0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Contactez nos équipes pour lancer un programme pilote de 30 jours au cœur de votre zone opérationnelle.</a:t>
            </a:r>
            <a:endParaRPr sz="1100"/>
          </a:p>
        </p:txBody>
      </p:sp>
      <p:sp>
        <p:nvSpPr>
          <p:cNvPr id="338" name="Google Shape;338;p25"/>
          <p:cNvSpPr txBox="1"/>
          <p:nvPr/>
        </p:nvSpPr>
        <p:spPr>
          <a:xfrm>
            <a:off x="4216598" y="1346597"/>
            <a:ext cx="800100" cy="307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Load</a:t>
            </a:r>
            <a:endParaRPr sz="1100"/>
          </a:p>
        </p:txBody>
      </p:sp>
      <p:sp>
        <p:nvSpPr>
          <p:cNvPr id="339" name="Google Shape;339;p25"/>
          <p:cNvSpPr txBox="1"/>
          <p:nvPr/>
        </p:nvSpPr>
        <p:spPr>
          <a:xfrm>
            <a:off x="4830961" y="1346597"/>
            <a:ext cx="625078" cy="307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19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Bot</a:t>
            </a:r>
            <a:endParaRPr sz="1100"/>
          </a:p>
        </p:txBody>
      </p:sp>
      <p:sp>
        <p:nvSpPr>
          <p:cNvPr id="340" name="Google Shape;340;p25"/>
          <p:cNvSpPr txBox="1"/>
          <p:nvPr/>
        </p:nvSpPr>
        <p:spPr>
          <a:xfrm>
            <a:off x="2336006" y="3700463"/>
            <a:ext cx="157162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contact@loadbot.tech</a:t>
            </a:r>
            <a:endParaRPr sz="1100"/>
          </a:p>
        </p:txBody>
      </p:sp>
      <p:sp>
        <p:nvSpPr>
          <p:cNvPr id="341" name="Google Shape;341;p25"/>
          <p:cNvSpPr txBox="1"/>
          <p:nvPr/>
        </p:nvSpPr>
        <p:spPr>
          <a:xfrm>
            <a:off x="4179094" y="3700463"/>
            <a:ext cx="128587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www.loadbot.tech</a:t>
            </a:r>
            <a:endParaRPr sz="1100"/>
          </a:p>
        </p:txBody>
      </p:sp>
      <p:sp>
        <p:nvSpPr>
          <p:cNvPr id="342" name="Google Shape;342;p25"/>
          <p:cNvSpPr txBox="1"/>
          <p:nvPr/>
        </p:nvSpPr>
        <p:spPr>
          <a:xfrm>
            <a:off x="5756076" y="3700463"/>
            <a:ext cx="1232296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LoadBot Robotics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